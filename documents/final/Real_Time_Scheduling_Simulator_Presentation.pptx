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102E"/>
    <a:srgbClr val="FFFFFF"/>
    <a:srgbClr val="F1B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25B432-ECC3-DE24-2124-0CB497B3E1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79191-53AB-B3AD-3E23-9D66448090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F79F3-10DB-4A81-90E6-B18E857C8AC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0E343-5C4F-53AE-B0E3-A60F479F65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Department of Electrical and Computer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E655D-ECB2-C641-7A4D-074BB53ABC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F81CB5-C996-4993-80F0-79F1F5128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33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0157F-3F3F-4105-9A15-445B2ECD8A93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Department of Electrical and Computer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5BC553-1154-4BE9-9BCF-72DF1AE4A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3285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ke---coover028_main">
            <a:extLst>
              <a:ext uri="{FF2B5EF4-FFF2-40B4-BE49-F238E27FC236}">
                <a16:creationId xmlns:a16="http://schemas.microsoft.com/office/drawing/2014/main" id="{2468848A-B34F-1ABE-9038-994CB52C7AA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" r="2803"/>
          <a:stretch/>
        </p:blipFill>
        <p:spPr bwMode="auto">
          <a:xfrm>
            <a:off x="0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AF2391-AFB5-81EB-96AD-E881AC5DFE0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C8102E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>
              <a:solidFill>
                <a:srgbClr val="C8102E"/>
              </a:solidFill>
              <a:latin typeface="Times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CDF0AE-2AC5-C9CA-E0D9-989E0AF37C37}"/>
              </a:ext>
            </a:extLst>
          </p:cNvPr>
          <p:cNvCxnSpPr/>
          <p:nvPr userDrawn="1"/>
        </p:nvCxnSpPr>
        <p:spPr bwMode="auto">
          <a:xfrm>
            <a:off x="0" y="4682067"/>
            <a:ext cx="12192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5099FC9-F6FF-178A-9C1C-A07A8C7C2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256386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589FC3-5711-B9AE-33BB-D9F697615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3714240"/>
            <a:ext cx="9144000" cy="90302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E8A92-4AE8-50F0-CC86-6E91A256C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F9EC-6C12-415A-B992-6B0674F95F95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742B4-209C-8F13-A05A-29E34A5C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E3F67-C4CE-A442-1478-B8ABF808B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 descr="ISU LEFT white.eps">
            <a:extLst>
              <a:ext uri="{FF2B5EF4-FFF2-40B4-BE49-F238E27FC236}">
                <a16:creationId xmlns:a16="http://schemas.microsoft.com/office/drawing/2014/main" id="{161D84A0-17F7-00C6-01E8-A898D577C4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6503215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8040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30D32-ED7D-8B04-2298-21DA805AE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99E3B-115F-21D5-820A-2737C0358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C94A2-534E-6930-09AC-CA767A5F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018B-2089-4CFE-B3A7-B76B933A4750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1E10F-A33E-5FDB-7C81-C66F854E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1F7A3-EDC1-F822-5BCF-33C20902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9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874A-7FE9-DF94-5E12-F6F54D7A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97919-AD9A-C8C0-29DD-AD5FDC020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CAE7A-ADFE-5C30-B57B-CB77AE278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86CC3-AE7B-4CD5-8B9C-208D1CD998FA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5058-19AC-AF60-1E3F-084FBBE6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C4E67-9DA3-530C-73F7-D8C73AF5E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89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D6042-D21B-8BB3-46C5-33DA56DB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3CDCE-B07F-C73E-8CD3-B7B6D8179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72748-72B4-DCF9-6765-A5A70CECC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36A1A-9466-481A-B34A-F3B8BB57A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B342-60D5-41EA-B7CA-E0029420122C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5D015-DF2F-A9B2-C6A9-204A2300A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03D93-4C82-7DE3-7FF5-116474AB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7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F8ED3-BEF3-1797-F031-3FBC2FE8E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3D4BB-7B40-2414-7B99-1EE5807E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FF800-CDFC-73E9-7498-4285E324F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97CFF-FB4C-A6F4-4CE1-8C7A4FCF0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74AA93-BBBF-D625-F6CA-24B93FEE1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6E968F-D8F4-AD2D-B5EE-1B213EAD0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65DA-AC0A-4A1A-AD01-227574AEBF70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B94A7-1D04-A535-091C-2CA01CB1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966200-B016-29BA-54BB-6401E151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5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3F7B-ACA5-21B9-763D-DAEADB8F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0E2F4-D0C4-2678-E2EC-E52483584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A2BF-939B-4FAE-87B0-B8D31EE3608D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339942-FE99-730A-0BBD-98F2D4A5C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1859C-0649-115D-D7CC-B73BEB842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8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E2C1D1-8790-73E3-FFEE-FF712F08B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01A44-9AD7-4146-9ED7-79D59C405FCC}" type="datetime1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FDD2FF-75EE-03BA-6D8F-8154DDBF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C8BF3-2DAD-C461-A169-DB10DF97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1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7407-DD1B-049C-4896-294EEA65A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0F2D-44F7-1D6D-0469-CD67DFC14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C0713-3103-FFA3-EBFE-5B92B971F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64F54-7BDA-78B7-B503-12246340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566-BED6-4CD7-9C28-B9BD254D4468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FC1A0-C2D0-DE5C-0773-2B3EE2491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510B6-E579-87F1-928C-79D1F96D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8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A292-AD8B-30EB-2495-AEF3AE978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B9366-4294-7657-52A8-87A3B7F6D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7DBC2-F83A-909E-D17C-86B772A37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A873-DAF5-4C82-D40A-1E20DDBF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1D56B-5409-4110-95A4-1FB71B01937B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79290-8069-5F64-90F6-D134A0C6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DF4FA-E108-FA07-8AA3-F861F184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81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4CE4-675E-2BD1-6ED2-6CA77A6A0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CA654-359D-BE7E-0D8C-1D1332932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7228B-91C3-138D-CE9E-EFDDC430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DB5E3-BEF7-479B-897D-9B47EB2A1783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62D88-291F-015A-0502-B7A932A3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C7CCC-CA9E-8E98-AD62-4882DF22F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7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6241F-487A-46AD-E3EE-F76FCA723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3E556-0027-86B1-AD83-2A541EA3B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D68E8-DC7E-5EDD-4C09-21EA98D6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72B4B-65FD-456C-9EC1-BCA470F0DDE8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5AAD6-4AB1-1318-1B49-82D02025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22DF0-88A9-46B4-210C-1E35E79F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B36A7-5598-42A3-AA41-E971AAE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889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48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D1BF3FFC-C2EA-77F8-1BB7-6CBB395085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48431"/>
            <a:ext cx="12192000" cy="509569"/>
          </a:xfrm>
          <a:prstGeom prst="rect">
            <a:avLst/>
          </a:prstGeom>
          <a:solidFill>
            <a:srgbClr val="C8102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6255F-4064-8FA1-871D-3DFCDF180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7F3E4-0B74-32F1-B31C-034488E4A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A4767-0497-8734-A5A9-11335B9B8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87444" y="64280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AB8D3BAB-5EC2-450E-9503-868C16167A0B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B4496-D1E7-26B2-7D26-68F7604D9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83399" y="642806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Department of Electrical and Computer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BEDF-0EDE-9ABD-ECB6-B0AECE5EB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8200" y="6428067"/>
            <a:ext cx="35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A0B36A7-5598-42A3-AA41-E971AAE8FC3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ISU LEFT white.eps">
            <a:extLst>
              <a:ext uri="{FF2B5EF4-FFF2-40B4-BE49-F238E27FC236}">
                <a16:creationId xmlns:a16="http://schemas.microsoft.com/office/drawing/2014/main" id="{9BD7AC51-ABBF-CA0B-954E-B1534FCAA244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6503215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095FD7-502E-604A-7300-89AF5F9CB5E1}"/>
              </a:ext>
            </a:extLst>
          </p:cNvPr>
          <p:cNvCxnSpPr/>
          <p:nvPr userDrawn="1"/>
        </p:nvCxnSpPr>
        <p:spPr bwMode="auto">
          <a:xfrm>
            <a:off x="10998200" y="6548174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5806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Real-Time Scheduling Simulator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Server-Based Algorithms for Mixed Periodic-Aperiodic Workloads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4754880"/>
            <a:ext cx="54864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lang="en-US" dirty="0">
                <a:solidFill>
                  <a:schemeClr val="bg1"/>
                </a:solidFill>
              </a:rPr>
              <a:t>Shahab Afshar</a:t>
            </a:r>
          </a:p>
          <a:p>
            <a:pPr>
              <a:defRPr sz="1400"/>
            </a:pPr>
            <a:r>
              <a:rPr lang="en-US" dirty="0">
                <a:solidFill>
                  <a:schemeClr val="bg1"/>
                </a:solidFill>
              </a:rPr>
              <a:t>CPR E 458/558: Real-Time Systems, Fall 2025</a:t>
            </a:r>
          </a:p>
          <a:p>
            <a:pPr>
              <a:defRPr sz="1400"/>
            </a:pPr>
            <a:r>
              <a:rPr lang="en-US" dirty="0">
                <a:solidFill>
                  <a:schemeClr val="bg1"/>
                </a:solidFill>
              </a:rPr>
              <a:t>Department of Electrical and Computer Engineering</a:t>
            </a:r>
          </a:p>
          <a:p>
            <a:pPr>
              <a:defRPr sz="1400"/>
            </a:pPr>
            <a:r>
              <a:rPr lang="en-US" dirty="0">
                <a:solidFill>
                  <a:schemeClr val="bg1"/>
                </a:solidFill>
              </a:rPr>
              <a:t>Instructor: Dr. G. Manimaran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Real-time systems must satisfy timing constraints in addition to functional correctness.</a:t>
            </a:r>
            <a:endParaRPr dirty="0"/>
          </a:p>
          <a:p>
            <a:pPr marL="0" indent="0">
              <a:buNone/>
              <a:defRPr sz="1600" b="1"/>
            </a:pPr>
            <a:endParaRPr lang="fa-IR" dirty="0"/>
          </a:p>
          <a:p>
            <a:pPr marL="0" indent="0">
              <a:buNone/>
              <a:defRPr sz="1600" b="1"/>
            </a:pPr>
            <a:r>
              <a:rPr dirty="0"/>
              <a:t>Real-World Example: Automotive Engine Control Unit (ECU)</a:t>
            </a:r>
          </a:p>
          <a:p>
            <a:pPr>
              <a:defRPr sz="1400"/>
            </a:pPr>
            <a:r>
              <a:rPr dirty="0"/>
              <a:t>An ECU must handle both predictable and unpredictable workloads:</a:t>
            </a:r>
          </a:p>
          <a:p>
            <a:pPr lvl="1">
              <a:defRPr sz="1400"/>
            </a:pPr>
            <a:r>
              <a:rPr dirty="0"/>
              <a:t>Periodic tasks: Engine control (10ms), ABS monitoring (5ms), fuel injection (20ms)</a:t>
            </a:r>
          </a:p>
          <a:p>
            <a:pPr lvl="1">
              <a:defRPr sz="1400"/>
            </a:pPr>
            <a:r>
              <a:rPr dirty="0"/>
              <a:t>Aperiodic tasks: Driver button presses, diagnostic requests, error handling</a:t>
            </a:r>
          </a:p>
          <a:p>
            <a:pPr lvl="1">
              <a:defRPr sz="1400"/>
            </a:pPr>
            <a:r>
              <a:rPr dirty="0"/>
              <a:t>Challenge: How to guarantee BOTH periodic AND aperiodic tasks meet deadlines?</a:t>
            </a:r>
          </a:p>
          <a:p>
            <a:pPr marL="0" indent="0">
              <a:buNone/>
              <a:defRPr sz="1600" b="1"/>
            </a:pPr>
            <a:endParaRPr lang="fa-IR" dirty="0"/>
          </a:p>
          <a:p>
            <a:pPr marL="0" indent="0">
              <a:buNone/>
              <a:defRPr sz="1600" b="1"/>
            </a:pPr>
            <a:r>
              <a:rPr dirty="0"/>
              <a:t>The Gap in Current Tools</a:t>
            </a:r>
          </a:p>
          <a:p>
            <a:pPr lvl="1">
              <a:defRPr sz="1400"/>
            </a:pPr>
            <a:r>
              <a:rPr dirty="0"/>
              <a:t>Theoretical analysis provides utilization bounds but doesn't show temporal behavior</a:t>
            </a:r>
          </a:p>
          <a:p>
            <a:pPr lvl="1">
              <a:defRPr sz="1400"/>
            </a:pPr>
            <a:r>
              <a:rPr dirty="0"/>
              <a:t>Manual schedule construction is tedious and error-prone</a:t>
            </a:r>
          </a:p>
          <a:p>
            <a:pPr lvl="1">
              <a:defRPr sz="1400"/>
            </a:pPr>
            <a:r>
              <a:rPr dirty="0"/>
              <a:t>RTOS testing requires significant development effort before exploring alternatives</a:t>
            </a:r>
          </a:p>
          <a:p>
            <a:pPr lvl="1">
              <a:defRPr sz="1400"/>
            </a:pPr>
            <a:r>
              <a:rPr dirty="0"/>
              <a:t>Engineers need to explore algorithm behavior BEFORE committing to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project investigates three research questions:</a:t>
            </a:r>
          </a:p>
          <a:p>
            <a:pPr>
              <a:defRPr sz="1400" b="1"/>
            </a:pPr>
            <a:r>
              <a:rPr dirty="0"/>
              <a:t>RQ1: Faithful Implementation</a:t>
            </a:r>
          </a:p>
          <a:p>
            <a:pPr lvl="1">
              <a:defRPr sz="1200"/>
            </a:pPr>
            <a:r>
              <a:rPr dirty="0"/>
              <a:t>Can a discrete-event simulator faithfully implement server capacity management policies (Polling, Deferrable, Sporadic)?</a:t>
            </a:r>
          </a:p>
          <a:p>
            <a:pPr>
              <a:defRPr sz="1400" b="1"/>
            </a:pPr>
            <a:r>
              <a:rPr dirty="0"/>
              <a:t>RQ2: Visualization Effectiveness</a:t>
            </a:r>
          </a:p>
          <a:p>
            <a:pPr lvl="1">
              <a:defRPr sz="1200"/>
            </a:pPr>
            <a:r>
              <a:rPr dirty="0"/>
              <a:t>Does interactive visualization (Gantt charts, metrics) help users understand algorithm differences?</a:t>
            </a:r>
          </a:p>
          <a:p>
            <a:pPr>
              <a:defRPr sz="1400" b="1"/>
            </a:pPr>
            <a:r>
              <a:rPr dirty="0"/>
              <a:t>RQ3: Parameter Exploration</a:t>
            </a:r>
          </a:p>
          <a:p>
            <a:pPr lvl="1">
              <a:defRPr sz="1200"/>
            </a:pPr>
            <a:r>
              <a:rPr dirty="0"/>
              <a:t>Can parameter exploration (varying server capacity Cs and period Ps) reveal optimal configurations?</a:t>
            </a:r>
          </a:p>
        </p:txBody>
      </p:sp>
      <p:pic>
        <p:nvPicPr>
          <p:cNvPr id="6" name="Content Placeholder 5" descr="system_diagram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900186"/>
            <a:ext cx="5181600" cy="2202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Four Server-Based Scheduling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Server-based scheduling dedicates CPU capacity to aperiodic tasks while protecting periodic task deadlines:</a:t>
            </a:r>
            <a:endParaRPr dirty="0"/>
          </a:p>
          <a:p>
            <a:pPr>
              <a:defRPr sz="1300" b="1"/>
            </a:pPr>
            <a:r>
              <a:rPr dirty="0"/>
              <a:t>Polling Server</a:t>
            </a:r>
          </a:p>
          <a:p>
            <a:pPr lvl="1">
              <a:defRPr sz="1100"/>
            </a:pPr>
            <a:r>
              <a:rPr dirty="0"/>
              <a:t>Capacity is LOST if no aperiodic tasks are ready when server executes. Simple but wasteful.</a:t>
            </a:r>
          </a:p>
          <a:p>
            <a:pPr>
              <a:defRPr sz="1300" b="1"/>
            </a:pPr>
            <a:r>
              <a:rPr dirty="0"/>
              <a:t>Deferrable Server</a:t>
            </a:r>
          </a:p>
          <a:p>
            <a:pPr lvl="1">
              <a:defRPr sz="1100"/>
            </a:pPr>
            <a:r>
              <a:rPr dirty="0"/>
              <a:t>Capacity is PRESERVED until end of server period. Better response but affects periodic </a:t>
            </a:r>
            <a:r>
              <a:rPr dirty="0" err="1"/>
              <a:t>schedulability</a:t>
            </a:r>
            <a:r>
              <a:rPr dirty="0"/>
              <a:t>.</a:t>
            </a:r>
          </a:p>
          <a:p>
            <a:pPr>
              <a:defRPr sz="1300" b="1"/>
            </a:pPr>
            <a:r>
              <a:rPr dirty="0"/>
              <a:t>Sporadic Server</a:t>
            </a:r>
          </a:p>
          <a:p>
            <a:pPr lvl="1">
              <a:defRPr sz="1100"/>
            </a:pPr>
            <a:r>
              <a:rPr dirty="0"/>
              <a:t>Capacity replenishment scheduled at </a:t>
            </a:r>
            <a:r>
              <a:rPr dirty="0" err="1"/>
              <a:t>t+Ps</a:t>
            </a:r>
            <a:r>
              <a:rPr dirty="0"/>
              <a:t> after consumption. Best response while maintaining RMS guarantees.</a:t>
            </a:r>
          </a:p>
          <a:p>
            <a:pPr>
              <a:defRPr sz="1300" b="1"/>
            </a:pPr>
            <a:r>
              <a:rPr dirty="0"/>
              <a:t>Background Scheduler</a:t>
            </a:r>
          </a:p>
          <a:p>
            <a:pPr lvl="1">
              <a:defRPr sz="1100"/>
            </a:pPr>
            <a:r>
              <a:rPr dirty="0"/>
              <a:t>Aperiodic tasks run ONLY during CPU idle time. Simplest but worst response time.</a:t>
            </a:r>
          </a:p>
        </p:txBody>
      </p:sp>
      <p:pic>
        <p:nvPicPr>
          <p:cNvPr id="6" name="Content Placeholder 5" descr="server_comparison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86980"/>
            <a:ext cx="5181600" cy="2828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Simulation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web-based simulator built with Python and </a:t>
            </a:r>
            <a:r>
              <a:rPr lang="en-US" dirty="0" err="1"/>
              <a:t>Streamlit</a:t>
            </a:r>
            <a:r>
              <a:rPr lang="en-US" dirty="0"/>
              <a:t> providing:</a:t>
            </a:r>
          </a:p>
          <a:p>
            <a:pPr>
              <a:defRPr sz="1400" b="1"/>
            </a:pPr>
            <a:r>
              <a:rPr lang="en-US" dirty="0"/>
              <a:t>Core Features</a:t>
            </a:r>
          </a:p>
          <a:p>
            <a:pPr lvl="1">
              <a:defRPr sz="1100"/>
            </a:pPr>
            <a:r>
              <a:rPr lang="en-US" dirty="0"/>
              <a:t>Discrete-event simulation with exact algorithm implementation</a:t>
            </a:r>
          </a:p>
          <a:p>
            <a:pPr lvl="1">
              <a:defRPr sz="1100"/>
            </a:pPr>
            <a:r>
              <a:rPr lang="en-US" dirty="0"/>
              <a:t>Interactive Gantt charts showing task execution and server events</a:t>
            </a:r>
          </a:p>
          <a:p>
            <a:pPr lvl="1">
              <a:defRPr sz="1100"/>
            </a:pPr>
            <a:r>
              <a:rPr lang="en-US" dirty="0"/>
              <a:t>Real-time parameter exploration via sliders (Cs, Ps, task parameters)</a:t>
            </a:r>
          </a:p>
          <a:p>
            <a:pPr lvl="1">
              <a:defRPr sz="1100"/>
            </a:pPr>
            <a:r>
              <a:rPr lang="en-US" dirty="0"/>
              <a:t>21 preset configurations for quick experimentation</a:t>
            </a:r>
          </a:p>
          <a:p>
            <a:pPr lvl="1">
              <a:defRPr sz="1100"/>
            </a:pPr>
            <a:r>
              <a:rPr lang="en-US" dirty="0" err="1"/>
              <a:t>Schedulability</a:t>
            </a:r>
            <a:r>
              <a:rPr lang="en-US" dirty="0"/>
              <a:t> analysis with RMS, EDF, and DMS utilization bounds</a:t>
            </a:r>
          </a:p>
          <a:p>
            <a:pPr>
              <a:defRPr sz="1400" b="1"/>
            </a:pPr>
            <a:r>
              <a:rPr lang="en-US" dirty="0"/>
              <a:t>Supported Algorithms</a:t>
            </a:r>
          </a:p>
          <a:p>
            <a:pPr lvl="1">
              <a:defRPr sz="1100"/>
            </a:pPr>
            <a:r>
              <a:rPr lang="en-US" dirty="0"/>
              <a:t>Basic: RMS, EDF, DMS, LLF (Liu &amp; Layland, 1973)</a:t>
            </a:r>
          </a:p>
          <a:p>
            <a:pPr lvl="1">
              <a:defRPr sz="1100"/>
            </a:pPr>
            <a:r>
              <a:rPr lang="en-US" dirty="0"/>
              <a:t>Server-Based: Polling, Deferrable, Sporadic, Background</a:t>
            </a:r>
          </a:p>
          <a:p>
            <a:pPr lvl="1">
              <a:defRPr sz="1100"/>
            </a:pPr>
            <a:r>
              <a:rPr lang="en-US" dirty="0"/>
              <a:t>Advanced: Precedence-constrained, Overload handling, HVDF</a:t>
            </a:r>
          </a:p>
        </p:txBody>
      </p:sp>
      <p:pic>
        <p:nvPicPr>
          <p:cNvPr id="6" name="Content Placeholder 5" descr="part1-02-full-layout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43969"/>
            <a:ext cx="5181600" cy="291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Layered Design with Clear Separation of Concerns</a:t>
            </a:r>
            <a:endParaRPr dirty="0"/>
          </a:p>
          <a:p>
            <a:pPr marL="0" indent="0">
              <a:buNone/>
              <a:defRPr sz="1200"/>
            </a:pPr>
            <a:r>
              <a:rPr dirty="0"/>
              <a:t>The architecture separates the simulation engine from visualization and UI, enabling independent testing and extension.</a:t>
            </a:r>
          </a:p>
          <a:p>
            <a:pPr marL="0" indent="0">
              <a:buNone/>
              <a:defRPr sz="1400" b="1"/>
            </a:pPr>
            <a:r>
              <a:rPr dirty="0"/>
              <a:t>Technology Stack</a:t>
            </a:r>
          </a:p>
          <a:p>
            <a:pPr>
              <a:defRPr sz="1200" b="1"/>
            </a:pPr>
            <a:r>
              <a:rPr dirty="0"/>
              <a:t>Core Logic (Python 3.10+)</a:t>
            </a:r>
          </a:p>
          <a:p>
            <a:pPr lvl="1">
              <a:defRPr sz="1000"/>
            </a:pPr>
            <a:r>
              <a:rPr dirty="0"/>
              <a:t>Pure simulation engine with no UI dependencies. Implements all scheduling algorithms and produces </a:t>
            </a:r>
            <a:r>
              <a:rPr dirty="0" err="1"/>
              <a:t>ScheduleResult</a:t>
            </a:r>
            <a:r>
              <a:rPr dirty="0"/>
              <a:t> objects.</a:t>
            </a:r>
          </a:p>
          <a:p>
            <a:pPr>
              <a:defRPr sz="1200" b="1"/>
            </a:pPr>
            <a:r>
              <a:rPr dirty="0"/>
              <a:t>Visualization (</a:t>
            </a:r>
            <a:r>
              <a:rPr dirty="0" err="1"/>
              <a:t>Plotly</a:t>
            </a:r>
            <a:r>
              <a:rPr dirty="0"/>
              <a:t>)</a:t>
            </a:r>
          </a:p>
          <a:p>
            <a:pPr lvl="1">
              <a:defRPr sz="1000"/>
            </a:pPr>
            <a:r>
              <a:rPr dirty="0"/>
              <a:t>Creates interactive Gantt charts, priority timelines, and metrics dashboards from </a:t>
            </a:r>
            <a:r>
              <a:rPr dirty="0" err="1"/>
              <a:t>ScheduleResult</a:t>
            </a:r>
            <a:r>
              <a:rPr dirty="0"/>
              <a:t> data.</a:t>
            </a:r>
          </a:p>
          <a:p>
            <a:pPr>
              <a:defRPr sz="1200" b="1"/>
            </a:pPr>
            <a:r>
              <a:rPr dirty="0"/>
              <a:t>Web UI (</a:t>
            </a:r>
            <a:r>
              <a:rPr dirty="0" err="1"/>
              <a:t>Streamlit</a:t>
            </a:r>
            <a:r>
              <a:rPr dirty="0"/>
              <a:t>)</a:t>
            </a:r>
          </a:p>
          <a:p>
            <a:pPr lvl="1">
              <a:defRPr sz="1000"/>
            </a:pPr>
            <a:r>
              <a:rPr dirty="0"/>
              <a:t>Provides the interactive dashboard with configuration panels, result displays, and export functionality.</a:t>
            </a:r>
          </a:p>
          <a:p>
            <a:pPr>
              <a:defRPr sz="1200" b="1"/>
            </a:pPr>
            <a:r>
              <a:rPr dirty="0"/>
              <a:t>Data Handling (Pandas)</a:t>
            </a:r>
          </a:p>
          <a:p>
            <a:pPr lvl="1">
              <a:defRPr sz="1000"/>
            </a:pPr>
            <a:r>
              <a:rPr dirty="0"/>
              <a:t>Manages task tables, CSV/JSON export, and data transformation for visualization.</a:t>
            </a:r>
          </a:p>
        </p:txBody>
      </p:sp>
      <p:pic>
        <p:nvPicPr>
          <p:cNvPr id="6" name="Content Placeholder 5" descr="layered_architecture.png"/>
          <p:cNvPicPr>
            <a:picLocks noGrp="1" noChangeAspect="1"/>
          </p:cNvPicPr>
          <p:nvPr>
            <p:ph sz="half" idx="2"/>
          </p:nvPr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72200" y="2331359"/>
            <a:ext cx="5181600" cy="33398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Pattern: Template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400" b="1"/>
            </a:pPr>
            <a:r>
              <a:rPr dirty="0"/>
              <a:t>Key Insight</a:t>
            </a:r>
          </a:p>
          <a:p>
            <a:pPr>
              <a:defRPr sz="1200"/>
            </a:pPr>
            <a:r>
              <a:rPr dirty="0"/>
              <a:t>All schedulers share the same simulation loop (time advancement, ready queue management, preemption handling). Only priority assignment and task selection differ.</a:t>
            </a:r>
          </a:p>
          <a:p>
            <a:pPr marL="0" indent="0">
              <a:buNone/>
              <a:defRPr sz="1400" b="1"/>
            </a:pPr>
            <a:r>
              <a:rPr dirty="0"/>
              <a:t>Implementation</a:t>
            </a:r>
          </a:p>
          <a:p>
            <a:pPr>
              <a:defRPr sz="1200"/>
            </a:pPr>
            <a:r>
              <a:rPr dirty="0" err="1"/>
              <a:t>SchedulerBase</a:t>
            </a:r>
            <a:r>
              <a:rPr dirty="0"/>
              <a:t> implements the complete simulate() method. Subclasses override only two methods:</a:t>
            </a:r>
          </a:p>
          <a:p>
            <a:pPr lvl="1">
              <a:defRPr sz="1100"/>
            </a:pPr>
            <a:r>
              <a:rPr dirty="0" err="1"/>
              <a:t>assign_priorities</a:t>
            </a:r>
            <a:r>
              <a:rPr dirty="0"/>
              <a:t>(): How to assign priorities to tasks</a:t>
            </a:r>
          </a:p>
          <a:p>
            <a:pPr lvl="1">
              <a:defRPr sz="1100"/>
            </a:pPr>
            <a:r>
              <a:rPr dirty="0" err="1"/>
              <a:t>get_next_task</a:t>
            </a:r>
            <a:r>
              <a:rPr dirty="0"/>
              <a:t>(</a:t>
            </a:r>
            <a:r>
              <a:rPr dirty="0" err="1"/>
              <a:t>ready_queue</a:t>
            </a:r>
            <a:r>
              <a:rPr dirty="0"/>
              <a:t>): Which task to run next</a:t>
            </a:r>
          </a:p>
          <a:p>
            <a:pPr marL="0" indent="0">
              <a:buNone/>
              <a:defRPr sz="1400" b="1"/>
            </a:pPr>
            <a:r>
              <a:rPr dirty="0"/>
              <a:t>Server Capacity Management</a:t>
            </a:r>
          </a:p>
          <a:p>
            <a:pPr>
              <a:defRPr sz="1100"/>
            </a:pPr>
            <a:r>
              <a:rPr dirty="0"/>
              <a:t>The key difference between servers is what happens when the server has CPU priority but no aperiodic tasks are ready:</a:t>
            </a:r>
          </a:p>
          <a:p>
            <a:pPr lvl="1">
              <a:defRPr sz="1100"/>
            </a:pPr>
            <a:r>
              <a:rPr dirty="0"/>
              <a:t>Polling: </a:t>
            </a:r>
            <a:r>
              <a:rPr dirty="0" err="1"/>
              <a:t>server_remaining</a:t>
            </a:r>
            <a:r>
              <a:rPr dirty="0"/>
              <a:t> = 0 (capacity lost)</a:t>
            </a:r>
          </a:p>
          <a:p>
            <a:pPr lvl="1">
              <a:defRPr sz="1100"/>
            </a:pPr>
            <a:r>
              <a:rPr dirty="0"/>
              <a:t>Deferrable: return False (capacity preserved until period end)</a:t>
            </a:r>
          </a:p>
          <a:p>
            <a:pPr lvl="1">
              <a:defRPr sz="1100"/>
            </a:pPr>
            <a:r>
              <a:rPr dirty="0"/>
              <a:t>Sporadic: Schedule replenishment at </a:t>
            </a:r>
            <a:r>
              <a:rPr dirty="0" err="1"/>
              <a:t>current_time</a:t>
            </a:r>
            <a:r>
              <a:rPr dirty="0"/>
              <a:t> + Ps</a:t>
            </a:r>
          </a:p>
        </p:txBody>
      </p:sp>
      <p:pic>
        <p:nvPicPr>
          <p:cNvPr id="6" name="Content Placeholder 5" descr="class_hierarchy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304154"/>
            <a:ext cx="5181600" cy="33942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Correctness Validation (RQ1)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Can the simulator faithfully implement server capacity management?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  <a:defRPr sz="1300" b="1"/>
            </a:pPr>
            <a:r>
              <a:rPr dirty="0"/>
              <a:t>Verification Method</a:t>
            </a:r>
          </a:p>
          <a:p>
            <a:pPr marL="0" indent="0">
              <a:buNone/>
              <a:defRPr sz="1100"/>
            </a:pPr>
            <a:r>
              <a:rPr dirty="0"/>
              <a:t>Each server type produces characteristic events in the timeline. Correctness is verified by observing expected event patterns:</a:t>
            </a:r>
          </a:p>
          <a:p>
            <a:pPr>
              <a:defRPr sz="1200" b="1"/>
            </a:pPr>
            <a:r>
              <a:rPr dirty="0"/>
              <a:t>Polling Server: </a:t>
            </a:r>
            <a:r>
              <a:rPr lang="en-US" dirty="0"/>
              <a:t>	[Correct]</a:t>
            </a:r>
            <a:endParaRPr dirty="0"/>
          </a:p>
          <a:p>
            <a:pPr lvl="1">
              <a:defRPr sz="1000"/>
            </a:pPr>
            <a:r>
              <a:rPr dirty="0" err="1"/>
              <a:t>capacity_lost</a:t>
            </a:r>
            <a:r>
              <a:rPr dirty="0"/>
              <a:t> events appear when server executes with no aperiodic tasks ready</a:t>
            </a:r>
          </a:p>
          <a:p>
            <a:pPr>
              <a:defRPr sz="1200" b="1"/>
            </a:pPr>
            <a:r>
              <a:rPr dirty="0"/>
              <a:t>Deferrable Server: </a:t>
            </a:r>
            <a:r>
              <a:rPr lang="en-US" dirty="0"/>
              <a:t>	[Correct]</a:t>
            </a:r>
            <a:endParaRPr dirty="0"/>
          </a:p>
          <a:p>
            <a:pPr lvl="1">
              <a:defRPr sz="1000"/>
            </a:pPr>
            <a:r>
              <a:rPr dirty="0"/>
              <a:t>deferred events show capacity preservation; no </a:t>
            </a:r>
            <a:r>
              <a:rPr dirty="0" err="1"/>
              <a:t>capacity_lost</a:t>
            </a:r>
            <a:r>
              <a:rPr dirty="0"/>
              <a:t> events</a:t>
            </a:r>
          </a:p>
          <a:p>
            <a:pPr>
              <a:defRPr sz="1200" b="1"/>
            </a:pPr>
            <a:r>
              <a:rPr dirty="0"/>
              <a:t>Sporadic Server: </a:t>
            </a:r>
            <a:r>
              <a:rPr lang="en-US" dirty="0"/>
              <a:t>	[Correct]</a:t>
            </a:r>
            <a:endParaRPr dirty="0"/>
          </a:p>
          <a:p>
            <a:pPr lvl="1">
              <a:defRPr sz="1000"/>
            </a:pPr>
            <a:r>
              <a:rPr dirty="0"/>
              <a:t>replenish events scheduled exactly at </a:t>
            </a:r>
            <a:r>
              <a:rPr dirty="0" err="1"/>
              <a:t>consumption_time</a:t>
            </a:r>
            <a:r>
              <a:rPr dirty="0"/>
              <a:t> + Ps</a:t>
            </a:r>
          </a:p>
          <a:p>
            <a:pPr>
              <a:defRPr sz="1200" b="1"/>
            </a:pPr>
            <a:r>
              <a:rPr dirty="0"/>
              <a:t>Background Scheduler: </a:t>
            </a:r>
            <a:r>
              <a:rPr lang="en-US" dirty="0"/>
              <a:t>	[Correct]</a:t>
            </a:r>
            <a:endParaRPr dirty="0"/>
          </a:p>
          <a:p>
            <a:pPr lvl="1">
              <a:defRPr sz="1000"/>
            </a:pPr>
            <a:r>
              <a:rPr dirty="0"/>
              <a:t>Aperiodic execution only during idle intervals (no periodic tasks ready)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  <a:defRPr sz="1100" b="1"/>
            </a:pPr>
            <a:r>
              <a:rPr dirty="0"/>
              <a:t>Answer: YES - The simulator correctly implements all four server algorithms as verified by behavioral event analysis.</a:t>
            </a:r>
          </a:p>
        </p:txBody>
      </p:sp>
      <p:pic>
        <p:nvPicPr>
          <p:cNvPr id="6" name="Content Placeholder 5" descr="part3-polling-02-gantt-chart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43969"/>
            <a:ext cx="5181600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Visualization Effectiveness (RQ2)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Does interactive visualization help users understand algorithm differences?</a:t>
            </a: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  <a:defRPr sz="1300" b="1"/>
            </a:pPr>
            <a:r>
              <a:rPr dirty="0"/>
              <a:t>Visualization Features Implemented</a:t>
            </a:r>
          </a:p>
          <a:p>
            <a:pPr>
              <a:defRPr sz="1200" b="1"/>
            </a:pPr>
            <a:r>
              <a:rPr dirty="0"/>
              <a:t>Color-coded task bars</a:t>
            </a:r>
          </a:p>
          <a:p>
            <a:pPr lvl="1">
              <a:defRPr sz="1000"/>
            </a:pPr>
            <a:r>
              <a:rPr dirty="0"/>
              <a:t>Periodic tasks (blue), Aperiodic tasks (orange), Server capacity (green) are visually distinct</a:t>
            </a:r>
          </a:p>
          <a:p>
            <a:pPr>
              <a:defRPr sz="1200" b="1"/>
            </a:pPr>
            <a:r>
              <a:rPr dirty="0"/>
              <a:t>Deadline markers</a:t>
            </a:r>
          </a:p>
          <a:p>
            <a:pPr lvl="1">
              <a:defRPr sz="1000"/>
            </a:pPr>
            <a:r>
              <a:rPr dirty="0"/>
              <a:t>Red triangles mark absolute deadlines for each task instance</a:t>
            </a:r>
          </a:p>
          <a:p>
            <a:pPr>
              <a:defRPr sz="1200" b="1"/>
            </a:pPr>
            <a:r>
              <a:rPr dirty="0"/>
              <a:t>Arrival markers</a:t>
            </a:r>
          </a:p>
          <a:p>
            <a:pPr lvl="1">
              <a:defRPr sz="1000"/>
            </a:pPr>
            <a:r>
              <a:rPr dirty="0"/>
              <a:t>Green circles indicate task arrival times</a:t>
            </a:r>
          </a:p>
          <a:p>
            <a:pPr>
              <a:defRPr sz="1200" b="1"/>
            </a:pPr>
            <a:r>
              <a:rPr dirty="0"/>
              <a:t>Server event labels</a:t>
            </a:r>
          </a:p>
          <a:p>
            <a:pPr lvl="1">
              <a:defRPr sz="1000"/>
            </a:pPr>
            <a:r>
              <a:rPr dirty="0"/>
              <a:t>Events like 'replenish', 'deferred', '</a:t>
            </a:r>
            <a:r>
              <a:rPr dirty="0" err="1"/>
              <a:t>capacity_lost</a:t>
            </a:r>
            <a:r>
              <a:rPr dirty="0"/>
              <a:t>' labeled directly on timeline</a:t>
            </a:r>
          </a:p>
          <a:p>
            <a:pPr>
              <a:defRPr sz="1200" b="1"/>
            </a:pPr>
            <a:r>
              <a:rPr dirty="0"/>
              <a:t>Hover tooltips</a:t>
            </a:r>
          </a:p>
          <a:p>
            <a:pPr lvl="1">
              <a:defRPr sz="1000"/>
            </a:pPr>
            <a:r>
              <a:rPr dirty="0"/>
              <a:t>Hovering over any bar shows task ID, remaining computation time, and event details</a:t>
            </a:r>
          </a:p>
          <a:p>
            <a:pPr>
              <a:defRPr sz="1200" b="1"/>
            </a:pPr>
            <a:r>
              <a:rPr dirty="0"/>
              <a:t>Interactive zoom/pan</a:t>
            </a:r>
          </a:p>
          <a:p>
            <a:pPr lvl="1">
              <a:defRPr sz="1000"/>
            </a:pPr>
            <a:r>
              <a:rPr dirty="0"/>
              <a:t>Users can zoom into specific time regions for detailed analysis</a:t>
            </a:r>
            <a:endParaRPr lang="en-US" dirty="0"/>
          </a:p>
          <a:p>
            <a:endParaRPr lang="en-US" sz="100" dirty="0"/>
          </a:p>
          <a:p>
            <a:pPr marL="0" indent="0">
              <a:buNone/>
              <a:defRPr sz="1100" b="1"/>
            </a:pPr>
            <a:r>
              <a:rPr dirty="0"/>
              <a:t>Answer: YES - Users can visually compare when capacity is lost (Polling) vs. preserved (Deferrable) vs. replenished (Sporadic).</a:t>
            </a:r>
          </a:p>
        </p:txBody>
      </p:sp>
      <p:pic>
        <p:nvPicPr>
          <p:cNvPr id="6" name="Content Placeholder 5" descr="part3-deferrable-01-gantt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43969"/>
            <a:ext cx="5181600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Parameter Sensitivity (RQ3)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Can parameter exploration reveal optimal configurations?</a:t>
            </a:r>
          </a:p>
          <a:p>
            <a:endParaRPr dirty="0"/>
          </a:p>
          <a:p>
            <a:pPr marL="0" indent="0">
              <a:buNone/>
              <a:defRPr sz="1300" b="1"/>
            </a:pPr>
            <a:r>
              <a:rPr dirty="0"/>
              <a:t>Experiment Setup</a:t>
            </a:r>
          </a:p>
          <a:p>
            <a:pPr>
              <a:defRPr sz="1100"/>
            </a:pPr>
            <a:r>
              <a:rPr dirty="0"/>
              <a:t>Workload: Two periodic tasks P1(C=1, P=10), P2(C=1, P=15) and one aperiodic task A1(C=8, arrives at t=0). Server period Ps=5 fixed, varying capacity Cs.</a:t>
            </a:r>
          </a:p>
          <a:p>
            <a:endParaRPr dirty="0"/>
          </a:p>
          <a:p>
            <a:pPr marL="0" indent="0">
              <a:buNone/>
              <a:defRPr sz="1300" b="1"/>
            </a:pPr>
            <a:r>
              <a:rPr dirty="0"/>
              <a:t>Results: Server Capacity Effect on Response Time</a:t>
            </a:r>
          </a:p>
          <a:p>
            <a:pPr>
              <a:defRPr sz="1100"/>
            </a:pPr>
            <a:r>
              <a:rPr dirty="0"/>
              <a:t>Cs=2: Response Time = 17 time units (4 replenishment cycles needed)</a:t>
            </a:r>
          </a:p>
          <a:p>
            <a:pPr>
              <a:defRPr sz="1100"/>
            </a:pPr>
            <a:r>
              <a:rPr dirty="0"/>
              <a:t>Cs=4: Response Time = 9 time units (2 replenishment cycles needed)</a:t>
            </a:r>
          </a:p>
          <a:p>
            <a:pPr>
              <a:defRPr sz="1100"/>
            </a:pPr>
            <a:r>
              <a:rPr dirty="0"/>
              <a:t>Cs=8: Response Time = 8 time units (1 replenishment cycle needed)</a:t>
            </a:r>
          </a:p>
          <a:p>
            <a:endParaRPr dirty="0"/>
          </a:p>
          <a:p>
            <a:pPr marL="0" indent="0">
              <a:buNone/>
              <a:defRPr sz="1300" b="1"/>
            </a:pPr>
            <a:r>
              <a:rPr dirty="0"/>
              <a:t>Key Finding</a:t>
            </a:r>
          </a:p>
          <a:p>
            <a:pPr>
              <a:defRPr sz="1100"/>
            </a:pPr>
            <a:r>
              <a:rPr dirty="0"/>
              <a:t>Increasing server capacity (Cs) from 2 to 8 reduces aperiodic response time by 53% (17→8). This insight cannot be obtained from utilization formulas alone.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  <a:defRPr sz="1100" b="1"/>
            </a:pPr>
            <a:r>
              <a:rPr dirty="0"/>
              <a:t>Answer: YES - Parameter exploration via sliders enables rapid discovery of optimal server configurations.</a:t>
            </a:r>
          </a:p>
        </p:txBody>
      </p:sp>
      <p:pic>
        <p:nvPicPr>
          <p:cNvPr id="6" name="Content Placeholder 5" descr="part3-sporadic-01-gantt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43969"/>
            <a:ext cx="5181600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EFA7A-BC71-FF0C-EE61-983DA8654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Question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defRPr sz="1400" b="1"/>
            </a:pPr>
            <a:r>
              <a:rPr dirty="0"/>
              <a:t>RQ1: Faithful Implementation </a:t>
            </a:r>
          </a:p>
          <a:p>
            <a:pPr lvl="1">
              <a:defRPr sz="1200"/>
            </a:pPr>
            <a:r>
              <a:rPr dirty="0"/>
              <a:t>The simulator correctly implements capacity management for all four server algorithms, verified by observing expected event patterns (</a:t>
            </a:r>
            <a:r>
              <a:rPr dirty="0" err="1"/>
              <a:t>capacity_lost</a:t>
            </a:r>
            <a:r>
              <a:rPr dirty="0"/>
              <a:t>, deferred, replenish).</a:t>
            </a:r>
          </a:p>
          <a:p>
            <a:pPr>
              <a:defRPr sz="1400" b="1"/>
            </a:pPr>
            <a:r>
              <a:rPr dirty="0"/>
              <a:t>RQ2: Visualization Effectiveness </a:t>
            </a:r>
          </a:p>
          <a:p>
            <a:pPr lvl="1">
              <a:defRPr sz="1200"/>
            </a:pPr>
            <a:r>
              <a:rPr dirty="0"/>
              <a:t>Interactive Gantt charts clearly show when capacity is lost vs. preserved vs. replenished. Users can visually compare algorithm behavior side-by-side.</a:t>
            </a:r>
          </a:p>
          <a:p>
            <a:pPr>
              <a:defRPr sz="1400" b="1"/>
            </a:pPr>
            <a:r>
              <a:rPr dirty="0"/>
              <a:t>RQ3: Parameter Exploration </a:t>
            </a:r>
          </a:p>
          <a:p>
            <a:pPr lvl="1">
              <a:defRPr sz="1200"/>
            </a:pPr>
            <a:r>
              <a:rPr dirty="0"/>
              <a:t>Varying server capacity Cs from 2→8 demonstrated response time reduction from 17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dirty="0"/>
              <a:t>8 time units, enabling discovery of optimal configurations.</a:t>
            </a:r>
          </a:p>
          <a:p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E4DFE8-C930-F90B-66F9-F0DF7CC004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Key Contributions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19DE9-8B37-7264-4BFB-934A798ADD5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  <a:defRPr sz="1200"/>
            </a:pPr>
            <a:r>
              <a:rPr lang="en-US" dirty="0"/>
              <a:t>Open-source simulator implementing 4 server-based algorithms</a:t>
            </a:r>
          </a:p>
          <a:p>
            <a:pPr>
              <a:buFont typeface="+mj-lt"/>
              <a:buAutoNum type="arabicPeriod"/>
              <a:defRPr sz="1200"/>
            </a:pPr>
            <a:r>
              <a:rPr lang="en-US" dirty="0"/>
              <a:t>Interactive Gantt charts displaying capacity management events</a:t>
            </a:r>
          </a:p>
          <a:p>
            <a:pPr>
              <a:buFont typeface="+mj-lt"/>
              <a:buAutoNum type="arabicPeriod"/>
              <a:defRPr sz="1200"/>
            </a:pPr>
            <a:r>
              <a:rPr lang="en-US" dirty="0"/>
              <a:t>21 preset configurations from course literature for verified correctness</a:t>
            </a:r>
          </a:p>
          <a:p>
            <a:pPr>
              <a:buFont typeface="+mj-lt"/>
              <a:buAutoNum type="arabicPeriod"/>
              <a:defRPr sz="1200"/>
            </a:pPr>
            <a:r>
              <a:rPr lang="en-US" dirty="0"/>
              <a:t>Parameter exploration via sliders for optimal configuration discovery</a:t>
            </a:r>
          </a:p>
          <a:p>
            <a:pPr>
              <a:buFont typeface="+mj-lt"/>
              <a:buAutoNum type="arabicPeriod"/>
              <a:defRPr sz="1200"/>
            </a:pPr>
            <a:r>
              <a:rPr lang="en-US" dirty="0" err="1"/>
              <a:t>Schedulability</a:t>
            </a:r>
            <a:r>
              <a:rPr lang="en-US" dirty="0"/>
              <a:t> analysis with RMS, EDF, and DMS utilization bounds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F5C93-BEBE-1111-FAF4-5D9C3103D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defRPr sz="1300" b="1"/>
            </a:pPr>
            <a:r>
              <a:rPr dirty="0"/>
              <a:t>Single-processor only</a:t>
            </a:r>
          </a:p>
          <a:p>
            <a:pPr lvl="1">
              <a:defRPr sz="1100"/>
            </a:pPr>
            <a:r>
              <a:rPr dirty="0"/>
              <a:t>The simulator currently supports uniprocessor scheduling. Multi-core scenarios with task migration and partitioning are not yet implemented.</a:t>
            </a:r>
          </a:p>
          <a:p>
            <a:pPr>
              <a:defRPr sz="1300" b="1"/>
            </a:pPr>
            <a:r>
              <a:rPr dirty="0"/>
              <a:t>No resource contention modeling</a:t>
            </a:r>
          </a:p>
          <a:p>
            <a:pPr lvl="1">
              <a:defRPr sz="1100"/>
            </a:pPr>
            <a:r>
              <a:rPr dirty="0"/>
              <a:t>Priority Inheritance Protocol (PIP) and Priority Ceiling Protocol (PCP) are implemented in the codebase but not yet integrated into the main simulation loop.</a:t>
            </a:r>
          </a:p>
          <a:p>
            <a:pPr>
              <a:defRPr sz="1300" b="1"/>
            </a:pPr>
            <a:r>
              <a:rPr dirty="0"/>
              <a:t>Limited user validation</a:t>
            </a:r>
          </a:p>
          <a:p>
            <a:pPr lvl="1">
              <a:defRPr sz="1100"/>
            </a:pPr>
            <a:r>
              <a:rPr dirty="0"/>
              <a:t>RQ2 assessment is based on feature implementation. A formal user study would provide stronger evidence of visualization effectiveness.</a:t>
            </a:r>
          </a:p>
          <a:p>
            <a:pPr>
              <a:defRPr sz="1300" b="1"/>
            </a:pPr>
            <a:r>
              <a:rPr dirty="0"/>
              <a:t>Simplified execution model</a:t>
            </a:r>
          </a:p>
          <a:p>
            <a:pPr lvl="1">
              <a:defRPr sz="1100"/>
            </a:pPr>
            <a:r>
              <a:rPr dirty="0"/>
              <a:t>The simulator does not model I/O delays, cache effects, interrupt latency, or context switch overhead beyond basic counting.</a:t>
            </a:r>
          </a:p>
          <a:p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9B3BE-B290-17B0-ECC1-2BD33B174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9A8B9F-2CA6-9CF1-FD46-930CBB28DA6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defRPr sz="1200"/>
            </a:pPr>
            <a:r>
              <a:rPr lang="en-US" dirty="0"/>
              <a:t>Multi-core extension with partitioned and global scheduling algorithms</a:t>
            </a:r>
          </a:p>
          <a:p>
            <a:pPr>
              <a:defRPr sz="1200"/>
            </a:pPr>
            <a:r>
              <a:rPr lang="en-US" dirty="0"/>
              <a:t>Resource protocol integration (PIP/PCP) for shared resource scenarios</a:t>
            </a:r>
          </a:p>
          <a:p>
            <a:pPr>
              <a:defRPr sz="1200"/>
            </a:pPr>
            <a:r>
              <a:rPr lang="en-US" dirty="0"/>
              <a:t>RTOS trace import to compare simulation with FreeRTOS/Zephyr execution</a:t>
            </a:r>
          </a:p>
          <a:p>
            <a:pPr>
              <a:defRPr sz="1200"/>
            </a:pPr>
            <a:r>
              <a:rPr lang="en-US" dirty="0"/>
              <a:t>Formal verification using model checking for </a:t>
            </a:r>
            <a:r>
              <a:rPr lang="en-US" dirty="0" err="1"/>
              <a:t>schedulability</a:t>
            </a:r>
            <a:r>
              <a:rPr lang="en-US" dirty="0"/>
              <a:t> guarantees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Achieved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1066B-F89D-00F4-E11C-984D16085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Skills Developed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defRPr sz="1400" b="1"/>
            </a:pPr>
            <a:r>
              <a:rPr dirty="0"/>
              <a:t>Real-Time Systems Concepts</a:t>
            </a:r>
          </a:p>
          <a:p>
            <a:pPr lvl="1">
              <a:defRPr sz="1100"/>
            </a:pPr>
            <a:r>
              <a:rPr dirty="0"/>
              <a:t>Deep understanding of server-based scheduling (Polling, Deferrable, Sporadic), RMS utilization bounds n(2^(1/n)-1), </a:t>
            </a:r>
            <a:r>
              <a:rPr dirty="0" err="1"/>
              <a:t>schedulability</a:t>
            </a:r>
            <a:r>
              <a:rPr dirty="0"/>
              <a:t> analysis, and capacity management trade-offs.</a:t>
            </a:r>
          </a:p>
          <a:p>
            <a:pPr>
              <a:defRPr sz="1400" b="1"/>
            </a:pPr>
            <a:r>
              <a:rPr dirty="0"/>
              <a:t>Software Engineering Patterns</a:t>
            </a:r>
          </a:p>
          <a:p>
            <a:pPr lvl="1">
              <a:defRPr sz="1100"/>
            </a:pPr>
            <a:r>
              <a:rPr dirty="0"/>
              <a:t>Applied Template Method pattern for extensible scheduler architecture, Strategy pattern for composable priority policies, and event-driven simulation design.</a:t>
            </a:r>
          </a:p>
          <a:p>
            <a:pPr>
              <a:defRPr sz="1400" b="1"/>
            </a:pPr>
            <a:r>
              <a:rPr dirty="0"/>
              <a:t>Tools &amp; Technologies</a:t>
            </a:r>
          </a:p>
          <a:p>
            <a:pPr lvl="1">
              <a:defRPr sz="1100"/>
            </a:pPr>
            <a:r>
              <a:rPr dirty="0"/>
              <a:t>Python for discrete-event simulation, </a:t>
            </a:r>
            <a:r>
              <a:rPr dirty="0" err="1"/>
              <a:t>Streamlit</a:t>
            </a:r>
            <a:r>
              <a:rPr dirty="0"/>
              <a:t> for rapid web UI development, </a:t>
            </a:r>
            <a:r>
              <a:rPr dirty="0" err="1"/>
              <a:t>Plotly</a:t>
            </a:r>
            <a:r>
              <a:rPr dirty="0"/>
              <a:t> for interactive visualizations, Pandas for data handling.</a:t>
            </a:r>
          </a:p>
          <a:p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AA54A-08BB-33B0-9F20-007B2246E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Key Lessons Learned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CF357-69C7-B7B6-C6EE-FBC61A1EEFD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  <a:defRPr sz="1200"/>
            </a:pPr>
            <a:r>
              <a:rPr lang="en-US" dirty="0"/>
              <a:t>Simulation reveals temporal behavior that utilization formulas cannot show</a:t>
            </a:r>
          </a:p>
          <a:p>
            <a:pPr>
              <a:buFont typeface="+mj-lt"/>
              <a:buAutoNum type="arabicPeriod"/>
              <a:defRPr sz="1200"/>
            </a:pPr>
            <a:r>
              <a:rPr lang="en-US" dirty="0"/>
              <a:t>Visualization is essential for understanding scheduling dynamics</a:t>
            </a:r>
          </a:p>
          <a:p>
            <a:pPr>
              <a:buFont typeface="+mj-lt"/>
              <a:buAutoNum type="arabicPeriod"/>
              <a:defRPr sz="1200"/>
            </a:pPr>
            <a:r>
              <a:rPr lang="en-US" dirty="0"/>
              <a:t>Parameter exploration enables informed design decisions before implementation</a:t>
            </a:r>
          </a:p>
          <a:p>
            <a:pPr>
              <a:buFont typeface="+mj-lt"/>
              <a:buAutoNum type="arabicPeriod"/>
              <a:defRPr sz="1200"/>
            </a:pPr>
            <a:r>
              <a:rPr lang="en-US" dirty="0"/>
              <a:t>Modular architecture (Template Method) dramatically simplifies adding new algorithms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1200"/>
            </a:pPr>
            <a:r>
              <a:t>[1] B. Sprunt, L. Sha, and J. Lehoczky, "Aperiodic task scheduling for hard-real-time systems," Real-Time Systems, vol. 1, no. 1, pp. 27-60, 1989.</a:t>
            </a:r>
          </a:p>
          <a:p>
            <a:pPr>
              <a:spcAft>
                <a:spcPts val="1400"/>
              </a:spcAft>
              <a:defRPr sz="1200"/>
            </a:pPr>
            <a:r>
              <a:t>[2] J. P. Lehoczky, L. Sha, and J. K. Strosnider, "Enhanced aperiodic responsiveness in hard real-time environments," in Proc. IEEE Real-Time Systems Symposium, pp. 261-270, 1987.</a:t>
            </a:r>
          </a:p>
          <a:p>
            <a:pPr>
              <a:spcAft>
                <a:spcPts val="1400"/>
              </a:spcAft>
              <a:defRPr sz="1200"/>
            </a:pPr>
            <a:r>
              <a:t>[3] M. Spuri and G. Buttazzo, "Scheduling aperiodic tasks in dynamic priority systems," Real-Time Systems, vol. 10, no. 2, pp. 179-210, 1996.</a:t>
            </a:r>
          </a:p>
          <a:p>
            <a:pPr>
              <a:spcAft>
                <a:spcPts val="1400"/>
              </a:spcAft>
              <a:defRPr sz="1200"/>
            </a:pPr>
            <a:r>
              <a:t>[4] C. L. Liu and J. W. Layland, "Scheduling algorithms for multiprogramming in a hard-real-time environment," Journal of the ACM, vol. 20, no. 1, pp. 46-61, 1973.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435608"/>
            <a:ext cx="9144000" cy="1604874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110736"/>
            <a:ext cx="9144000" cy="2823720"/>
          </a:xfrm>
        </p:spPr>
        <p:txBody>
          <a:bodyPr>
            <a:normAutofit/>
          </a:bodyPr>
          <a:lstStyle/>
          <a:p>
            <a:r>
              <a:rPr lang="en-US" dirty="0"/>
              <a:t>Shahab Afshar</a:t>
            </a:r>
          </a:p>
          <a:p>
            <a:r>
              <a:rPr lang="en-US" dirty="0"/>
              <a:t>PhD Student, Computer Engineering</a:t>
            </a:r>
          </a:p>
          <a:p>
            <a:r>
              <a:rPr lang="en-US" dirty="0"/>
              <a:t>Department of Electrical and Computer Engineering</a:t>
            </a:r>
          </a:p>
          <a:p>
            <a:endParaRPr lang="en-US" dirty="0"/>
          </a:p>
          <a:p>
            <a:r>
              <a:rPr lang="en-US" dirty="0"/>
              <a:t>Project Repository: Available upon request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1685</Words>
  <Application>Microsoft Office PowerPoint</Application>
  <PresentationFormat>Widescreen</PresentationFormat>
  <Paragraphs>175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Times</vt:lpstr>
      <vt:lpstr>Wingdings</vt:lpstr>
      <vt:lpstr>Office Theme</vt:lpstr>
      <vt:lpstr>Real-Time Scheduling Simulator</vt:lpstr>
      <vt:lpstr>Problem Statement</vt:lpstr>
      <vt:lpstr>Research Questions</vt:lpstr>
      <vt:lpstr>Solution: Four Server-Based Scheduling Algorithms</vt:lpstr>
      <vt:lpstr>Interactive Simulation Platform</vt:lpstr>
      <vt:lpstr>Software Architecture</vt:lpstr>
      <vt:lpstr>Design Pattern: Template Method</vt:lpstr>
      <vt:lpstr>Results: Correctness Validation (RQ1)</vt:lpstr>
      <vt:lpstr>Results: Visualization Effectiveness (RQ2)</vt:lpstr>
      <vt:lpstr>Results: Parameter Sensitivity (RQ3)</vt:lpstr>
      <vt:lpstr>Conclusions</vt:lpstr>
      <vt:lpstr>Limitations &amp; Future Work</vt:lpstr>
      <vt:lpstr>Learning Achieved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Shahab Afshar</dc:creator>
  <cp:lastModifiedBy>Shahab Afshar</cp:lastModifiedBy>
  <cp:revision>3</cp:revision>
  <dcterms:created xsi:type="dcterms:W3CDTF">2024-11-21T17:06:03Z</dcterms:created>
  <dcterms:modified xsi:type="dcterms:W3CDTF">2025-12-15T03:06:18Z</dcterms:modified>
</cp:coreProperties>
</file>