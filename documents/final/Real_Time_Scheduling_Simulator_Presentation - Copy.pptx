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6" r:id="rId4"/>
    <p:sldId id="257" r:id="rId3"/>
    <p:sldId id="258" r:id="rId2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8102E"/>
    <a:srgbClr val="FFFFFF"/>
    <a:srgbClr val="F1BE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9" autoAdjust="0"/>
    <p:restoredTop sz="94660"/>
  </p:normalViewPr>
  <p:slideViewPr>
    <p:cSldViewPr snapToGrid="0">
      <p:cViewPr varScale="1">
        <p:scale>
          <a:sx n="62" d="100"/>
          <a:sy n="62" d="100"/>
        </p:scale>
        <p:origin x="70" y="2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3.xml"/><Relationship Id="rId3" Type="http://schemas.openxmlformats.org/officeDocument/2006/relationships/slide" Target="slides/slid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525B432-ECC3-DE24-2124-0CB497B3E11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279191-53AB-B3AD-3E23-9D664480901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6F79F3-10DB-4A81-90E6-B18E857C8AC6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D0E343-5C4F-53AE-B0E3-A60F479F65F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Department of Electrical and Computer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5E655D-ECB2-C641-7A4D-074BB53ABC6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F81CB5-C996-4993-80F0-79F1F51282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7336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10157F-3F3F-4105-9A15-445B2ECD8A93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Department of Electrical and Computer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5BC553-1154-4BE9-9BCF-72DF1AE4A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232856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ike---coover028_main">
            <a:extLst>
              <a:ext uri="{FF2B5EF4-FFF2-40B4-BE49-F238E27FC236}">
                <a16:creationId xmlns:a16="http://schemas.microsoft.com/office/drawing/2014/main" id="{2468848A-B34F-1ABE-9038-994CB52C7AA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3" r="2803"/>
          <a:stretch/>
        </p:blipFill>
        <p:spPr bwMode="auto">
          <a:xfrm>
            <a:off x="0" y="-1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EAF2391-AFB5-81EB-96AD-E881AC5DFE0F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C8102E">
              <a:alpha val="9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>
              <a:solidFill>
                <a:srgbClr val="C8102E"/>
              </a:solidFill>
              <a:latin typeface="Times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2CDF0AE-2AC5-C9CA-E0D9-989E0AF37C37}"/>
              </a:ext>
            </a:extLst>
          </p:cNvPr>
          <p:cNvCxnSpPr/>
          <p:nvPr userDrawn="1"/>
        </p:nvCxnSpPr>
        <p:spPr bwMode="auto">
          <a:xfrm>
            <a:off x="0" y="4682067"/>
            <a:ext cx="121920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1BE48">
                <a:alpha val="8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85099FC9-F6FF-178A-9C1C-A07A8C7C2F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200" y="1256386"/>
            <a:ext cx="9144000" cy="2387600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589FC3-5711-B9AE-33BB-D9F6976154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9200" y="3714240"/>
            <a:ext cx="9144000" cy="90302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8E8A92-4AE8-50F0-CC86-6E91A256C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7F9EC-6C12-415A-B992-6B0674F95F95}" type="datetime1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C742B4-209C-8F13-A05A-29E34A5C0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Electrical and Computer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0E3F67-C4CE-A442-1478-B8ABF808B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B36A7-5598-42A3-AA41-E971AAE8FC3F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Picture 12" descr="ISU LEFT white.eps">
            <a:extLst>
              <a:ext uri="{FF2B5EF4-FFF2-40B4-BE49-F238E27FC236}">
                <a16:creationId xmlns:a16="http://schemas.microsoft.com/office/drawing/2014/main" id="{161D84A0-17F7-00C6-01E8-A898D577C4E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8200" y="6503215"/>
            <a:ext cx="2396490" cy="197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980403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30D32-ED7D-8B04-2298-21DA805AE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99E3B-115F-21D5-820A-2737C0358D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C94A2-534E-6930-09AC-CA767A5F6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D018B-2089-4CFE-B3A7-B76B933A4750}" type="datetime1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C1E10F-A33E-5FDB-7C81-C66F854E1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Electrical and Computer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C1F7A3-EDC1-F822-5BCF-33C209029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B36A7-5598-42A3-AA41-E971AAE8F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790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2874A-7FE9-DF94-5E12-F6F54D7AD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497919-AD9A-C8C0-29DD-AD5FDC0203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2CAE7A-ADFE-5C30-B57B-CB77AE278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86CC3-AE7B-4CD5-8B9C-208D1CD998FA}" type="datetime1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7B5058-19AC-AF60-1E3F-084FBBE6E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Electrical and Computer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C4E67-9DA3-530C-73F7-D8C73AF5E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B36A7-5598-42A3-AA41-E971AAE8F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089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D6042-D21B-8BB3-46C5-33DA56DB4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3CDCE-B07F-C73E-8CD3-B7B6D81794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772748-72B4-DCF9-6765-A5A70CECC6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836A1A-9466-481A-B34A-F3B8BB57A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8B342-60D5-41EA-B7CA-E0029420122C}" type="datetime1">
              <a:rPr lang="en-US" smtClean="0"/>
              <a:t>3/26/2025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95D015-DF2F-A9B2-C6A9-204A2300A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Electrical and Computer Engineering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B03D93-4C82-7DE3-7FF5-116474AB8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B36A7-5598-42A3-AA41-E971AAE8F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777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F8ED3-BEF3-1797-F031-3FBC2FE8E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83D4BB-7B40-2414-7B99-1EE5807E1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0FF800-CDFC-73E9-7498-4285E324F0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B97CFF-FB4C-A6F4-4CE1-8C7A4FCF09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74AA93-BBBF-D625-F6CA-24B93FEE16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6E968F-D8F4-AD2D-B5EE-1B213EAD0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C65DA-AC0A-4A1A-AD01-227574AEBF70}" type="datetime1">
              <a:rPr lang="en-US" smtClean="0"/>
              <a:t>3/26/2025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AB94A7-1D04-A535-091C-2CA01CB16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Electrical and Computer Engineering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966200-B016-29BA-54BB-6401E1517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B36A7-5598-42A3-AA41-E971AAE8F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655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73F7B-ACA5-21B9-763D-DAEADB8F9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50E2F4-D0C4-2678-E2EC-E52483584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A2BF-939B-4FAE-87B0-B8D31EE3608D}" type="datetime1">
              <a:rPr lang="en-US" smtClean="0"/>
              <a:t>3/26/2025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339942-FE99-730A-0BBD-98F2D4A5C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Electrical and Computer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61859C-0649-115D-D7CC-B73BEB842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B36A7-5598-42A3-AA41-E971AAE8F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589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E2C1D1-8790-73E3-FFEE-FF712F08B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01A44-9AD7-4146-9ED7-79D59C405FCC}" type="datetime1">
              <a:rPr lang="en-US" smtClean="0"/>
              <a:t>3/26/2025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FDD2FF-75EE-03BA-6D8F-8154DDBF1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Electrical and Computer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3C8BF3-2DAD-C461-A169-DB10DF976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B36A7-5598-42A3-AA41-E971AAE8F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014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37407-DD1B-049C-4896-294EEA65A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C0F2D-44F7-1D6D-0469-CD67DFC149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2C0713-3103-FFA3-EBFE-5B92B971F9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164F54-7BDA-78B7-B503-122463400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5B566-BED6-4CD7-9C28-B9BD254D4468}" type="datetime1">
              <a:rPr lang="en-US" smtClean="0"/>
              <a:t>3/26/2025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DFC1A0-C2D0-DE5C-0773-2B3EE2491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Electrical and Computer Engineering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1510B6-E579-87F1-928C-79D1F96D6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B36A7-5598-42A3-AA41-E971AAE8F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98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6A292-AD8B-30EB-2495-AEF3AE978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EB9366-4294-7657-52A8-87A3B7F6DB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07DBC2-F83A-909E-D17C-86B772A372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CCA873-DAF5-4C82-D40A-1E20DDBFD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1D56B-5409-4110-95A4-1FB71B01937B}" type="datetime1">
              <a:rPr lang="en-US" smtClean="0"/>
              <a:t>3/26/2025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D79290-8069-5F64-90F6-D134A0C61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Electrical and Computer Engineering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5DF4FA-E108-FA07-8AA3-F861F1848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B36A7-5598-42A3-AA41-E971AAE8F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081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24CE4-675E-2BD1-6ED2-6CA77A6A0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1CA654-359D-BE7E-0D8C-1D13329326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E7228B-91C3-138D-CE9E-EFDDC430C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DB5E3-BEF7-479B-897D-9B47EB2A1783}" type="datetime1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362D88-291F-015A-0502-B7A932A38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Electrical and Computer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C7CCC-CA9E-8E98-AD62-4882DF22F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B36A7-5598-42A3-AA41-E971AAE8F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676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46241F-487A-46AD-E3EE-F76FCA7236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63E556-0027-86B1-AD83-2A541EA3B7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7D68E8-DC7E-5EDD-4C09-21EA98D66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72B4B-65FD-456C-9EC1-BCA470F0DDE8}" type="datetime1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A5AAD6-4AB1-1318-1B49-82D02025C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Electrical and Computer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B22DF0-88A9-46B4-210C-1E35E79F0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B36A7-5598-42A3-AA41-E971AAE8F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8896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748653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8">
            <a:extLst>
              <a:ext uri="{FF2B5EF4-FFF2-40B4-BE49-F238E27FC236}">
                <a16:creationId xmlns:a16="http://schemas.microsoft.com/office/drawing/2014/main" id="{D1BF3FFC-C2EA-77F8-1BB7-6CBB395085E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348431"/>
            <a:ext cx="12192000" cy="509569"/>
          </a:xfrm>
          <a:prstGeom prst="rect">
            <a:avLst/>
          </a:prstGeom>
          <a:solidFill>
            <a:srgbClr val="C8102E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96255F-4064-8FA1-871D-3DFCDF180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A7F3E4-0B74-32F1-B31C-034488E4A9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AA4767-0497-8734-A5A9-11335B9B85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87444" y="642806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AB8D3BAB-5EC2-450E-9503-868C16167A0B}" type="datetime1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1B4496-D1E7-26B2-7D26-68F7604D9D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83399" y="6428067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Department of Electrical and Computer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EBEDF-0EDE-9ABD-ECB6-B0AECE5EBB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98200" y="6428067"/>
            <a:ext cx="35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7A0B36A7-5598-42A3-AA41-E971AAE8FC3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 descr="ISU LEFT white.eps">
            <a:extLst>
              <a:ext uri="{FF2B5EF4-FFF2-40B4-BE49-F238E27FC236}">
                <a16:creationId xmlns:a16="http://schemas.microsoft.com/office/drawing/2014/main" id="{9BD7AC51-ABBF-CA0B-954E-B1534FCAA244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8200" y="6503215"/>
            <a:ext cx="2396490" cy="197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095FD7-502E-604A-7300-89AF5F9CB5E1}"/>
              </a:ext>
            </a:extLst>
          </p:cNvPr>
          <p:cNvCxnSpPr/>
          <p:nvPr userDrawn="1"/>
        </p:nvCxnSpPr>
        <p:spPr bwMode="auto">
          <a:xfrm>
            <a:off x="10998200" y="6548174"/>
            <a:ext cx="0" cy="1524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1BE4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658062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Real-Time Scheduling Simulator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Server-Based Algorithms for Mixed Periodic-Aperiodic Workloads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Shahab Afshar</a:t>
            </a:r>
          </a:p>
          <a:p>
            <a:pPr>
              <a:defRPr sz="1400"/>
            </a:pPr>
            <a:r>
              <a:t>CPR E 458/558: Real-Time Systems, Fall 2024</a:t>
            </a:r>
          </a:p>
          <a:p>
            <a:pPr>
              <a:defRPr sz="1400"/>
            </a:pPr>
            <a:r>
              <a:t>Department of Electrical and Computer Engineering</a:t>
            </a:r>
          </a:p>
          <a:p>
            <a:pPr>
              <a:defRPr sz="1400"/>
            </a:pPr>
            <a:r>
              <a:t>Iowa State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Statement: The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/>
            </a:pPr>
            <a:r>
              <a:t>Real-time systems must satisfy timing constraints in addition to functional correctness</a:t>
            </a:r>
          </a:p>
          <a:p/>
          <a:p>
            <a:pPr>
              <a:defRPr b="1" sz="1600"/>
            </a:pPr>
            <a:r>
              <a:t>Real-World Example: Automotive ECU</a:t>
            </a:r>
          </a:p>
          <a:p>
            <a:pPr lvl="1">
              <a:defRPr sz="1400"/>
            </a:pPr>
            <a:r>
              <a:t>Periodic tasks: Engine control (10ms), ABS monitoring (5ms), fuel injection (20ms)</a:t>
            </a:r>
          </a:p>
          <a:p>
            <a:pPr lvl="1">
              <a:defRPr sz="1400"/>
            </a:pPr>
            <a:r>
              <a:t>Aperiodic tasks: Driver button presses, diagnostic requests, error handling</a:t>
            </a:r>
          </a:p>
          <a:p/>
          <a:p>
            <a:pPr>
              <a:defRPr b="1" sz="1600"/>
            </a:pPr>
            <a:r>
              <a:t>The Gap</a:t>
            </a:r>
          </a:p>
          <a:p>
            <a:pPr lvl="1">
              <a:defRPr sz="1400"/>
            </a:pPr>
            <a:r>
              <a:t>Theoretical analysis provides utilization bounds but doesn't show temporal behavior</a:t>
            </a:r>
          </a:p>
          <a:p>
            <a:pPr lvl="1">
              <a:defRPr sz="1400"/>
            </a:pPr>
            <a:r>
              <a:t>Manual schedule construction is tedious and error-prone</a:t>
            </a:r>
          </a:p>
          <a:p>
            <a:pPr lvl="1">
              <a:defRPr sz="1400"/>
            </a:pPr>
            <a:r>
              <a:t>RTOS testing requires significant development effort</a:t>
            </a:r>
          </a:p>
          <a:p>
            <a:pPr lvl="1">
              <a:defRPr sz="1400"/>
            </a:pPr>
            <a:r>
              <a:t>Engineers need to explore algorithm behavior before committing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800"/>
              </a:spcAft>
              <a:defRPr sz="1600"/>
            </a:pPr>
            <a:r>
              <a:t>RQ1: Can a discrete-event simulator faithfully implement server capacity management policies?</a:t>
            </a:r>
          </a:p>
          <a:p>
            <a:pPr>
              <a:spcAft>
                <a:spcPts val="1800"/>
              </a:spcAft>
              <a:defRPr sz="1600"/>
            </a:pPr>
            <a:r>
              <a:t>RQ2: Does interactive visualization help users understand algorithm differences?</a:t>
            </a:r>
          </a:p>
          <a:p>
            <a:pPr>
              <a:spcAft>
                <a:spcPts val="1800"/>
              </a:spcAft>
              <a:defRPr sz="1600"/>
            </a:pPr>
            <a:r>
              <a:t>RQ3: Can parameter exploration (varying Cs/Ps) reveal optimal configurations?</a:t>
            </a:r>
          </a:p>
        </p:txBody>
      </p:sp>
      <p:pic>
        <p:nvPicPr>
          <p:cNvPr id="4" name="Picture 3" descr="system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3200400"/>
            <a:ext cx="4572000" cy="194313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Solution: Four Server-Based Scheduling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600"/>
            </a:pPr>
            <a:r>
              <a:t>Polling Server</a:t>
            </a:r>
          </a:p>
          <a:p>
            <a:pPr lvl="1">
              <a:defRPr sz="1400"/>
            </a:pPr>
            <a:r>
              <a:t>  • Capacity lost if no aperiodic tasks → Moderate response</a:t>
            </a:r>
          </a:p>
          <a:p>
            <a:pPr>
              <a:defRPr b="1" sz="1600"/>
            </a:pPr>
            <a:r>
              <a:t>Deferrable Server</a:t>
            </a:r>
          </a:p>
          <a:p>
            <a:pPr lvl="1">
              <a:defRPr sz="1400"/>
            </a:pPr>
            <a:r>
              <a:t>  • Capacity preserved until period end → Good response</a:t>
            </a:r>
          </a:p>
          <a:p>
            <a:pPr>
              <a:defRPr b="1" sz="1600"/>
            </a:pPr>
            <a:r>
              <a:t>Sporadic Server</a:t>
            </a:r>
          </a:p>
          <a:p>
            <a:pPr lvl="1">
              <a:defRPr sz="1400"/>
            </a:pPr>
            <a:r>
              <a:t>  • Dynamic replenishment at t+Ps → Best response</a:t>
            </a:r>
          </a:p>
          <a:p>
            <a:pPr>
              <a:defRPr b="1" sz="1600"/>
            </a:pPr>
            <a:r>
              <a:t>Background Scheduler</a:t>
            </a:r>
          </a:p>
          <a:p>
            <a:pPr lvl="1">
              <a:defRPr sz="1400"/>
            </a:pPr>
            <a:r>
              <a:t>  • Runs during CPU idle only → Worst response</a:t>
            </a:r>
          </a:p>
          <a:p/>
          <a:p>
            <a:pPr>
              <a:defRPr i="1" sz="1200"/>
            </a:pPr>
            <a:r>
              <a:t>Sources: Sprunt et al. (1989), Lehoczky et al. (1987)</a:t>
            </a:r>
          </a:p>
        </p:txBody>
      </p:sp>
      <p:pic>
        <p:nvPicPr>
          <p:cNvPr id="4" name="Picture 3" descr="server_comparis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22462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Interactive Simulation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/>
            </a:pPr>
            <a:r>
              <a:t>Core Features</a:t>
            </a:r>
          </a:p>
          <a:p>
            <a:pPr lvl="1">
              <a:defRPr sz="1400"/>
            </a:pPr>
            <a:r>
              <a:t>Discrete-event simulation with exact algorithm implementation</a:t>
            </a:r>
          </a:p>
          <a:p>
            <a:pPr lvl="1">
              <a:defRPr sz="1400"/>
            </a:pPr>
            <a:r>
              <a:t>Interactive Gantt charts showing capacity events</a:t>
            </a:r>
          </a:p>
          <a:p>
            <a:pPr lvl="1">
              <a:defRPr sz="1400"/>
            </a:pPr>
            <a:r>
              <a:t>Parameter exploration via sliders (Cs, Ps)</a:t>
            </a:r>
          </a:p>
          <a:p>
            <a:pPr lvl="1">
              <a:defRPr sz="1400"/>
            </a:pPr>
            <a:r>
              <a:t>21 preset configurations for quick experimentation</a:t>
            </a:r>
          </a:p>
          <a:p>
            <a:pPr lvl="1">
              <a:defRPr sz="1400"/>
            </a:pPr>
            <a:r>
              <a:t>Schedulability analysis (RMS, EDF, DMS bounds)</a:t>
            </a:r>
          </a:p>
          <a:p/>
          <a:p>
            <a:pPr>
              <a:defRPr b="1" sz="1800"/>
            </a:pPr>
            <a:r>
              <a:t>Supported Algorithms</a:t>
            </a:r>
          </a:p>
          <a:p>
            <a:pPr lvl="1">
              <a:defRPr sz="1400"/>
            </a:pPr>
            <a:r>
              <a:t>Basic: RMS, EDF, DMS, LLF — Liu &amp; Layland (1973)</a:t>
            </a:r>
          </a:p>
          <a:p>
            <a:pPr lvl="1">
              <a:defRPr sz="1400"/>
            </a:pPr>
            <a:r>
              <a:t>Server-Based: Polling, Deferrable, Sporadic, Background</a:t>
            </a:r>
          </a:p>
          <a:p>
            <a:pPr lvl="1">
              <a:defRPr sz="1400"/>
            </a:pPr>
            <a:r>
              <a:t>Advanced: Precedence-constrained, Overload handling, Value-based (HVDF)</a:t>
            </a:r>
          </a:p>
        </p:txBody>
      </p:sp>
      <p:pic>
        <p:nvPicPr>
          <p:cNvPr id="4" name="Picture 3" descr="part1-02-full-lay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286000"/>
            <a:ext cx="4114800" cy="23145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/>
            </a:pPr>
            <a:r>
              <a:t>Layered Design with Clear Separation of Concerns</a:t>
            </a:r>
          </a:p>
          <a:p/>
          <a:p>
            <a:pPr>
              <a:defRPr b="1" sz="1600"/>
            </a:pPr>
            <a:r>
              <a:t>Technology Stack</a:t>
            </a:r>
          </a:p>
          <a:p>
            <a:pPr lvl="1">
              <a:defRPr sz="1400"/>
            </a:pPr>
            <a:r>
              <a:t>Core Logic: Python 3.10+ — Simulation engine</a:t>
            </a:r>
          </a:p>
          <a:p>
            <a:pPr lvl="1">
              <a:defRPr sz="1400"/>
            </a:pPr>
            <a:r>
              <a:t>Web UI: Streamlit — Interactive dashboard</a:t>
            </a:r>
          </a:p>
          <a:p>
            <a:pPr lvl="1">
              <a:defRPr sz="1400"/>
            </a:pPr>
            <a:r>
              <a:t>Visualization: Plotly — Gantt charts, metrics</a:t>
            </a:r>
          </a:p>
          <a:p>
            <a:pPr lvl="1">
              <a:defRPr sz="1400"/>
            </a:pPr>
            <a:r>
              <a:t>Data Handling: Pandas — Task tables, export</a:t>
            </a:r>
          </a:p>
        </p:txBody>
      </p:sp>
      <p:pic>
        <p:nvPicPr>
          <p:cNvPr id="4" name="Picture 3" descr="layered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828800"/>
            <a:ext cx="5029200" cy="32416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Pattern: Template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600"/>
            </a:pPr>
            <a:r>
              <a:t>Key Insight: All schedulers share the same simulation loop; only priority assignment differs.</a:t>
            </a:r>
          </a:p>
          <a:p/>
          <a:p>
            <a:pPr>
              <a:defRPr b="1" sz="1600"/>
            </a:pPr>
            <a:r>
              <a:t>Capacity Management Difference</a:t>
            </a:r>
          </a:p>
          <a:p>
            <a:pPr lvl="1">
              <a:defRPr sz="1400"/>
            </a:pPr>
            <a:r>
              <a:t>Polling: self.server_remaining = 0 (capacity lost)</a:t>
            </a:r>
          </a:p>
          <a:p>
            <a:pPr lvl="1">
              <a:defRPr sz="1400"/>
            </a:pPr>
            <a:r>
              <a:t>Deferrable: return False (capacity preserved)</a:t>
            </a:r>
          </a:p>
          <a:p>
            <a:pPr lvl="1">
              <a:defRPr sz="1400"/>
            </a:pPr>
            <a:r>
              <a:t>Sporadic: Schedule replenishment at t + Ps</a:t>
            </a:r>
          </a:p>
        </p:txBody>
      </p:sp>
      <p:pic>
        <p:nvPicPr>
          <p:cNvPr id="4" name="Picture 3" descr="class_hierarc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286000"/>
            <a:ext cx="5486400" cy="359394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Correctness Validation (RQ1)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/>
            </a:pPr>
            <a:r>
              <a:t>Server Behavior Verification</a:t>
            </a:r>
          </a:p>
          <a:p>
            <a:pPr lvl="1">
              <a:defRPr sz="1400"/>
            </a:pPr>
            <a:r>
              <a:t>Polling: capacity_lost events when idle ✓</a:t>
            </a:r>
          </a:p>
          <a:p>
            <a:pPr lvl="1">
              <a:defRPr sz="1400"/>
            </a:pPr>
            <a:r>
              <a:t>Deferrable: deferred events preserve capacity ✓</a:t>
            </a:r>
          </a:p>
          <a:p>
            <a:pPr lvl="1">
              <a:defRPr sz="1400"/>
            </a:pPr>
            <a:r>
              <a:t>Sporadic: replenish events at t + Ps ✓</a:t>
            </a:r>
          </a:p>
          <a:p>
            <a:pPr lvl="1">
              <a:defRPr sz="1400"/>
            </a:pPr>
            <a:r>
              <a:t>Background: Runs only during CPU idle ✓</a:t>
            </a:r>
          </a:p>
          <a:p/>
          <a:p>
            <a:pPr>
              <a:defRPr b="1" sz="1600"/>
            </a:pPr>
            <a:r>
              <a:t>Gantt Chart Evidence</a:t>
            </a:r>
          </a:p>
        </p:txBody>
      </p:sp>
      <p:pic>
        <p:nvPicPr>
          <p:cNvPr id="4" name="Picture 3" descr="part3-polling-02-gantt-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286000"/>
            <a:ext cx="5943600" cy="33432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Parameter Sensitivity &amp; Visualization (RQ2, RQ3)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600"/>
            </a:pPr>
            <a:r>
              <a:t>Server Capacity Effect on Response Time</a:t>
            </a:r>
          </a:p>
          <a:p>
            <a:pPr>
              <a:defRPr sz="1200"/>
            </a:pPr>
            <a:r>
              <a:t>Workload: P1(C=1,P=10), P2(C=1,P=15), A1(C=8, arrives t=0)</a:t>
            </a:r>
          </a:p>
          <a:p>
            <a:pPr lvl="1">
              <a:defRPr sz="1400"/>
            </a:pPr>
            <a:r>
              <a:t>Cs=2, Ps=5 → Response Time: 17, Replenishments: 4</a:t>
            </a:r>
          </a:p>
          <a:p>
            <a:pPr lvl="1">
              <a:defRPr sz="1400"/>
            </a:pPr>
            <a:r>
              <a:t>Cs=4, Ps=5 → Response Time: 9, Replenishments: 2</a:t>
            </a:r>
          </a:p>
          <a:p>
            <a:pPr lvl="1">
              <a:defRPr sz="1400"/>
            </a:pPr>
            <a:r>
              <a:t>Cs=8, Ps=5 → Response Time: 8, Replenishments: 1</a:t>
            </a:r>
          </a:p>
          <a:p>
            <a:pPr>
              <a:defRPr b="1" sz="1400"/>
            </a:pPr>
            <a:r>
              <a:t>Finding: Larger Cs reduces aperiodic response time by reducing replenishment cycles</a:t>
            </a:r>
          </a:p>
          <a:p/>
          <a:p>
            <a:pPr>
              <a:defRPr b="1" sz="1600"/>
            </a:pPr>
            <a:r>
              <a:t>Visualization Features (RQ2)</a:t>
            </a:r>
          </a:p>
          <a:p>
            <a:pPr lvl="1">
              <a:defRPr sz="1400"/>
            </a:pPr>
            <a:r>
              <a:t>Color-coded task bars (periodic vs. aperiodic)</a:t>
            </a:r>
          </a:p>
          <a:p>
            <a:pPr lvl="1">
              <a:defRPr sz="1400"/>
            </a:pPr>
            <a:r>
              <a:t>Red triangles mark deadlines</a:t>
            </a:r>
          </a:p>
          <a:p>
            <a:pPr lvl="1">
              <a:defRPr sz="1400"/>
            </a:pPr>
            <a:r>
              <a:t>Server events labeled on timeline</a:t>
            </a:r>
          </a:p>
          <a:p>
            <a:pPr lvl="1">
              <a:defRPr sz="1400"/>
            </a:pPr>
            <a:r>
              <a:t>Hover tooltips show remaining computation</a:t>
            </a:r>
          </a:p>
        </p:txBody>
      </p:sp>
      <p:pic>
        <p:nvPicPr>
          <p:cNvPr id="4" name="Picture 3" descr="part3-sporadic-01-gan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743200"/>
            <a:ext cx="548640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/>
            </a:pPr>
            <a:r>
              <a:t>Research Question Answers</a:t>
            </a:r>
          </a:p>
          <a:p>
            <a:pPr lvl="1">
              <a:defRPr sz="1400"/>
            </a:pPr>
            <a:r>
              <a:t>RQ1: Faithful Implementation ✓ — Verified by observing expected capacity events</a:t>
            </a:r>
          </a:p>
          <a:p>
            <a:pPr lvl="1">
              <a:defRPr sz="1400"/>
            </a:pPr>
            <a:r>
              <a:t>RQ2: Visualization Effectiveness ✓ — Gantt charts clearly show algorithm differences</a:t>
            </a:r>
          </a:p>
          <a:p>
            <a:pPr lvl="1">
              <a:defRPr sz="1400"/>
            </a:pPr>
            <a:r>
              <a:t>RQ3: Parameter Exploration ✓ — Varying Cs from 2→8 shows response time reduction (17→8)</a:t>
            </a:r>
          </a:p>
          <a:p/>
          <a:p>
            <a:pPr>
              <a:defRPr b="1" sz="1800"/>
            </a:pPr>
            <a:r>
              <a:t>Key Contributions</a:t>
            </a:r>
          </a:p>
          <a:p>
            <a:pPr lvl="1">
              <a:defRPr sz="1400"/>
            </a:pPr>
            <a:r>
              <a:t>1. Open-source simulator with 4 server algorithms</a:t>
            </a:r>
          </a:p>
          <a:p>
            <a:pPr lvl="1">
              <a:defRPr sz="1400"/>
            </a:pPr>
            <a:r>
              <a:t>2. Interactive Gantt charts displaying capacity events</a:t>
            </a:r>
          </a:p>
          <a:p>
            <a:pPr lvl="1">
              <a:defRPr sz="1400"/>
            </a:pPr>
            <a:r>
              <a:t>3. 21 preset configurations from literature examples</a:t>
            </a:r>
          </a:p>
          <a:p>
            <a:pPr lvl="1">
              <a:defRPr sz="1400"/>
            </a:pPr>
            <a:r>
              <a:t>4. Parameter exploration via sliders</a:t>
            </a:r>
          </a:p>
          <a:p>
            <a:pPr lvl="1">
              <a:defRPr sz="1400"/>
            </a:pPr>
            <a:r>
              <a:t>5. Schedulability analysis (RMS, EDF, DMS)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/>
            </a:pPr>
            <a:r>
              <a:t>Current Limitations</a:t>
            </a:r>
          </a:p>
          <a:p>
            <a:pPr lvl="1">
              <a:defRPr sz="1400"/>
            </a:pPr>
            <a:r>
              <a:t>Single-processor only: Multi-core scheduling not yet supported</a:t>
            </a:r>
          </a:p>
          <a:p>
            <a:pPr lvl="1">
              <a:defRPr sz="1400"/>
            </a:pPr>
            <a:r>
              <a:t>No resource contention: PIP/PCP protocols implemented but not integrated</a:t>
            </a:r>
          </a:p>
          <a:p>
            <a:pPr lvl="1">
              <a:defRPr sz="1400"/>
            </a:pPr>
            <a:r>
              <a:t>Limited validation: User study needed for formal RQ2 assessment</a:t>
            </a:r>
          </a:p>
          <a:p>
            <a:pPr lvl="1">
              <a:defRPr sz="1400"/>
            </a:pPr>
            <a:r>
              <a:t>Simulation scope: Does not model I/O delays, cache effects</a:t>
            </a:r>
          </a:p>
          <a:p/>
          <a:p>
            <a:pPr>
              <a:defRPr b="1" sz="1800"/>
            </a:pPr>
            <a:r>
              <a:t>Future Directions</a:t>
            </a:r>
          </a:p>
          <a:p>
            <a:pPr lvl="1">
              <a:defRPr sz="1400"/>
            </a:pPr>
            <a:r>
              <a:t>Multi-core extension: Partitioned and global scheduling algorithms</a:t>
            </a:r>
          </a:p>
          <a:p>
            <a:pPr lvl="1">
              <a:defRPr sz="1400"/>
            </a:pPr>
            <a:r>
              <a:t>Resource protocol integration: PIP/PCP for shared resource scenarios</a:t>
            </a:r>
          </a:p>
          <a:p>
            <a:pPr lvl="1">
              <a:defRPr sz="1400"/>
            </a:pPr>
            <a:r>
              <a:t>RTOS trace import: Compare simulation with FreeRTOS/Zephyr traces</a:t>
            </a:r>
          </a:p>
          <a:p>
            <a:pPr lvl="1">
              <a:defRPr sz="1400"/>
            </a:pPr>
            <a:r>
              <a:t>Formal verification: Model checking for schedulability guarantees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Achieved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/>
            </a:pPr>
            <a:r>
              <a:t>Technical Skills Developed</a:t>
            </a:r>
          </a:p>
          <a:p>
            <a:pPr lvl="1">
              <a:defRPr sz="1400"/>
            </a:pPr>
            <a:r>
              <a:t>Real-Time Systems: Server-based scheduling, RMS bounds, capacity management</a:t>
            </a:r>
          </a:p>
          <a:p>
            <a:pPr lvl="1">
              <a:defRPr sz="1400"/>
            </a:pPr>
            <a:r>
              <a:t>Software Engineering: Template Method pattern, Strategy pattern, event-driven design</a:t>
            </a:r>
          </a:p>
          <a:p>
            <a:pPr lvl="1">
              <a:defRPr sz="1400"/>
            </a:pPr>
            <a:r>
              <a:t>Tools: Python simulation, Streamlit UI, Plotly visualization</a:t>
            </a:r>
          </a:p>
          <a:p/>
          <a:p>
            <a:pPr>
              <a:defRPr b="1" sz="1800"/>
            </a:pPr>
            <a:r>
              <a:t>Lessons Learned</a:t>
            </a:r>
          </a:p>
          <a:p>
            <a:pPr lvl="1">
              <a:defRPr sz="1400"/>
            </a:pPr>
            <a:r>
              <a:t>1. Simulation reveals behavior that formulas cannot show</a:t>
            </a:r>
          </a:p>
          <a:p>
            <a:pPr lvl="1">
              <a:defRPr sz="1400"/>
            </a:pPr>
            <a:r>
              <a:t>2. Visualization is essential for understanding scheduling dynamics</a:t>
            </a:r>
          </a:p>
          <a:p>
            <a:pPr lvl="1">
              <a:defRPr sz="1400"/>
            </a:pPr>
            <a:r>
              <a:t>3. Parameter exploration enables informed design decisions</a:t>
            </a:r>
          </a:p>
          <a:p>
            <a:pPr lvl="1">
              <a:defRPr sz="1400"/>
            </a:pPr>
            <a:r>
              <a:t>4. Modular architecture simplifies adding new algorithms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200"/>
            </a:pPr>
            <a:r>
              <a:t>[1] B. Sprunt, L. Sha, and J. Lehoczky, "Aperiodic task scheduling for hard-real-time systems," Real-Time Systems, vol. 1, no. 1, pp. 27-60, 1989.</a:t>
            </a:r>
          </a:p>
          <a:p>
            <a:pPr>
              <a:spcAft>
                <a:spcPts val="1200"/>
              </a:spcAft>
              <a:defRPr sz="1200"/>
            </a:pPr>
            <a:r>
              <a:t>[2] J. P. Lehoczky, L. Sha, and J. K. Strosnider, "Enhanced aperiodic responsiveness in hard real-time environments," IEEE RTSS, pp. 261-270, 1987.</a:t>
            </a:r>
          </a:p>
          <a:p>
            <a:pPr>
              <a:spcAft>
                <a:spcPts val="1200"/>
              </a:spcAft>
              <a:defRPr sz="1200"/>
            </a:pPr>
            <a:r>
              <a:t>[3] M. Spuri and G. Buttazzo, "Scheduling aperiodic tasks in dynamic priority systems," Real-Time Systems, vol. 10, no. 2, pp. 179-210, 1996.</a:t>
            </a:r>
          </a:p>
          <a:p>
            <a:pPr>
              <a:spcAft>
                <a:spcPts val="1200"/>
              </a:spcAft>
              <a:defRPr sz="1200"/>
            </a:pPr>
            <a:r>
              <a:t>[4] C. L. Liu and J. W. Layland, "Scheduling algorithms for multiprogramming in a hard-real-time environment," JACM, vol. 20, no. 1, pp. 46-61, 1973.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Shahab Afshar</a:t>
            </a:r>
          </a:p>
          <a:p>
            <a:pPr>
              <a:defRPr sz="1400"/>
            </a:pPr>
            <a:r>
              <a:t>Department of Electrical and Computer Engineering</a:t>
            </a:r>
          </a:p>
          <a:p>
            <a:pPr>
              <a:defRPr sz="1400"/>
            </a:pPr>
            <a:r>
              <a:t>Iowa State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66</Words>
  <Application>Microsoft Office PowerPoint</Application>
  <PresentationFormat>Widescreen</PresentationFormat>
  <Paragraphs>16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3" baseType="lpstr">
      <vt:lpstr>Aptos</vt:lpstr>
      <vt:lpstr>Aptos Display</vt:lpstr>
      <vt:lpstr>Arial</vt:lpstr>
      <vt:lpstr>ITC Berkeley Oldstyle Book</vt:lpstr>
      <vt:lpstr>Times</vt:lpstr>
      <vt:lpstr>Univers 55 Oblique</vt:lpstr>
      <vt:lpstr>Univers 55 Roman</vt:lpstr>
      <vt:lpstr>Univers 57 Condensed</vt:lpstr>
      <vt:lpstr>Univers 75 Black</vt:lpstr>
      <vt:lpstr>Office Theme</vt:lpstr>
      <vt:lpstr>PowerPoint Presentation</vt:lpstr>
      <vt:lpstr>Exploring Synergies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Shahab Afshar</dc:creator>
  <cp:lastModifiedBy>Afshar, Shahab [E CPE]</cp:lastModifiedBy>
  <cp:revision>2</cp:revision>
  <dcterms:created xsi:type="dcterms:W3CDTF">2024-11-21T17:06:03Z</dcterms:created>
  <dcterms:modified xsi:type="dcterms:W3CDTF">2025-03-26T17:07:10Z</dcterms:modified>
</cp:coreProperties>
</file>